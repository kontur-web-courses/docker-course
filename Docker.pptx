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Уровень текста 1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Автор и дата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презентации</a:t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Авокадо и лаймы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3" name="Уровень текста 1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Автор и дата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Уровень текста 1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презентации</a:t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Тарелка с рублеными котлетами из лосося, салатом и хумусом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Уровень текста 1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Текст пункта на слайде</a:t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xfrm>
            <a:off x="12001500" y="130809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" name="Уровень текста 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Текст пункта на слайде</a:t>
            </a:r>
          </a:p>
        </p:txBody>
      </p:sp>
      <p:sp>
        <p:nvSpPr>
          <p:cNvPr id="62" name="Тарелка пасты папарделле с зелёным маслом из петрушки, жареным фундуком и стружкой сыра пармезан"/>
          <p:cNvSpPr/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2" name="Уровень текста 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Текст пункта на слайде</a:t>
            </a:r>
          </a:p>
        </p:txBody>
      </p:sp>
      <p:sp>
        <p:nvSpPr>
          <p:cNvPr id="7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 видеотрансляция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2" name="Уровень текста 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Текст пункта на слайде</a:t>
            </a:r>
          </a:p>
        </p:txBody>
      </p:sp>
      <p:sp>
        <p:nvSpPr>
          <p:cNvPr id="8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0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Заголовок повестки дня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109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Уровень текста 1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/>
            </a:lvl1pPr>
          </a:lstStyle>
          <a:p>
            <a:pPr/>
            <a:r>
              <a:t>Темы повестки дня</a:t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Уровень текста 1…"/>
          <p:cNvSpPr txBox="1"/>
          <p:nvPr>
            <p:ph type="body" idx="1" hasCustomPrompt="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Уровень текста 1…"/>
          <p:cNvSpPr txBox="1"/>
          <p:nvPr>
            <p:ph type="body" sz="quarter" idx="1" hasCustomPrompt="1"/>
          </p:nvPr>
        </p:nvSpPr>
        <p:spPr>
          <a:xfrm>
            <a:off x="2430024" y="10675453"/>
            <a:ext cx="2020005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Авторство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Уровень текста 1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</p:spPr>
        <p:txBody>
          <a:bodyPr numCol="1" spcCol="38100"/>
          <a:lstStyle>
            <a:lvl1pPr marL="469900" indent="-300876">
              <a:spcBef>
                <a:spcPts val="0"/>
              </a:spcBef>
              <a:buSzTx/>
              <a:buNone/>
              <a:defRPr spc="-20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«Важная цитата»</a:t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Миска салата с жареным рисом, варёными яйцами и палочками для еды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5" name="Тарелка с рублеными котлетами из лосося, салатом и хумусом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Тарелка пасты папарделле с зелёным маслом из петрушки, жареным фундуком и стружкой сыра пармезан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миска салата с жареным рисом, варёными яйцами и палочками для еды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Уровень текста 1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Текст заголовка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tif"/><Relationship Id="rId3" Type="http://schemas.openxmlformats.org/officeDocument/2006/relationships/image" Target="../media/image3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t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tif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Автор и дата"/>
          <p:cNvSpPr txBox="1"/>
          <p:nvPr>
            <p:ph type="body" sz="quarter" idx="1"/>
          </p:nvPr>
        </p:nvSpPr>
        <p:spPr>
          <a:xfrm>
            <a:off x="1201341" y="11859862"/>
            <a:ext cx="21971002" cy="6369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Docker/Kubernetes"/>
          <p:cNvSpPr txBox="1"/>
          <p:nvPr>
            <p:ph type="title"/>
          </p:nvPr>
        </p:nvSpPr>
        <p:spPr>
          <a:xfrm>
            <a:off x="1206495" y="2574990"/>
            <a:ext cx="21971006" cy="4648203"/>
          </a:xfrm>
          <a:prstGeom prst="rect">
            <a:avLst/>
          </a:prstGeom>
        </p:spPr>
        <p:txBody>
          <a:bodyPr/>
          <a:lstStyle>
            <a:lvl1pPr>
              <a:defRPr spc="-300"/>
            </a:lvl1pPr>
          </a:lstStyle>
          <a:p>
            <a:pPr/>
            <a:r>
              <a:t>Docker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Docker. Что это такое?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Docker. Что это такое?</a:t>
            </a:r>
          </a:p>
        </p:txBody>
      </p:sp>
      <p:sp>
        <p:nvSpPr>
          <p:cNvPr id="175" name="Подзаголовок слайда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Docker - система контейнеризации (создание, запуск контейнера и управление им)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Docker - система контейнеризации (создание, запуск контейнера и управление им).</a:t>
            </a:r>
          </a:p>
          <a:p>
            <a:pPr/>
            <a:r>
              <a:t>А что такое контейнер и зачем он нужен?</a:t>
            </a:r>
          </a:p>
        </p:txBody>
      </p:sp>
      <p:pic>
        <p:nvPicPr>
          <p:cNvPr id="177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948140" y="7380337"/>
            <a:ext cx="3492502" cy="23241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Предтеч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Предтече</a:t>
            </a:r>
          </a:p>
        </p:txBody>
      </p:sp>
      <p:sp>
        <p:nvSpPr>
          <p:cNvPr id="180" name="Подзаголовок слайда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1" name="Когда-то (даже сейчас) приложения запускались на отдельных виртуальных машинах.…"/>
          <p:cNvSpPr txBox="1"/>
          <p:nvPr>
            <p:ph type="body" idx="2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603504" indent="-603504" defTabSz="2413954">
              <a:spcBef>
                <a:spcPts val="4400"/>
              </a:spcBef>
              <a:defRPr sz="4700"/>
            </a:pPr>
            <a:r>
              <a:t>Когда-то (даже сейчас) приложения запускались на отдельных виртуальных машинах.</a:t>
            </a:r>
          </a:p>
          <a:p>
            <a:pPr marL="603504" indent="-603504" defTabSz="2413954">
              <a:spcBef>
                <a:spcPts val="4400"/>
              </a:spcBef>
              <a:defRPr sz="4700"/>
            </a:pPr>
            <a:r>
              <a:t>Эти виртуальные машины нужно настраивать.</a:t>
            </a:r>
          </a:p>
          <a:p>
            <a:pPr marL="603504" indent="-603504" defTabSz="2413954">
              <a:spcBef>
                <a:spcPts val="4400"/>
              </a:spcBef>
              <a:defRPr sz="4700"/>
            </a:pPr>
            <a:r>
              <a:t>Для Production и Dev окружения машины могли быть разными (да даже в рамках окружения такое могло быть).</a:t>
            </a:r>
          </a:p>
          <a:p>
            <a:pPr marL="603504" indent="-603504" defTabSz="2413954">
              <a:spcBef>
                <a:spcPts val="4400"/>
              </a:spcBef>
              <a:defRPr sz="4700"/>
            </a:pPr>
            <a:r>
              <a:t>Чтобы добавить ресурсов, нужно остановить машину. Чтобы добавить реплик, нужно создать ещё одну машину.</a:t>
            </a:r>
          </a:p>
          <a:p>
            <a:pPr marL="603504" indent="-603504" defTabSz="2413954">
              <a:spcBef>
                <a:spcPts val="4400"/>
              </a:spcBef>
              <a:defRPr sz="4700"/>
            </a:pPr>
            <a:r>
              <a:t>Это приводит к труднодиагностируемым багам и большому неудобству в эксплуатации.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Контейнер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Контейнер</a:t>
            </a:r>
          </a:p>
        </p:txBody>
      </p:sp>
      <p:sp>
        <p:nvSpPr>
          <p:cNvPr id="184" name="Подзаголовок слайда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5" name="Контейнер - приложение вместо со всем необходимым окружением - минимальная ОС, рантайм, библиотеки, веб-сервер и т.д.…"/>
          <p:cNvSpPr txBox="1"/>
          <p:nvPr>
            <p:ph type="body" idx="2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Контейнер - приложение вместо со всем необходимым окружением - минимальная ОС, рантайм, библиотеки, веб-сервер и т.д.</a:t>
            </a:r>
          </a:p>
          <a:p>
            <a:pPr/>
            <a:r>
              <a:t>Это хорошо тем, что собранный контейнер пригоден для запуска в разных окружениях и не зависит от них (будь то разные ОС, разные машины и т.д.)</a:t>
            </a:r>
          </a:p>
          <a:p>
            <a:pPr/>
            <a:r>
              <a:t>Существует несколько систем контейнеризации, почему Docker?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Заголовок слайда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8" name="Подзаголовок слайда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9" name="На самом деле, вопрос стоит неправильно. Часто используется не сам Docker, а именно Docker-контейнеры. Они выбраны потому, что существует огромное количество инструментов для них, они хорошо переносимы (в отличие от HyperV/Windows-контейнеров).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На самом деле, вопрос стоит неправильно. Часто используется не сам Docker, а именно Docker-контейнеры. Они выбраны потому, что существует огромное количество инструментов для них, они хорошо переносимы (в отличие от HyperV/Windows-контейнеров).</a:t>
            </a:r>
          </a:p>
          <a:p>
            <a:pPr/>
            <a:r>
              <a:t>Что же касается самого Docker, то у него есть альтернативы, которые довольно часто используются (Podman, containerd, который часто используется в Kubernetes, etc)</a:t>
            </a:r>
          </a:p>
        </p:txBody>
      </p:sp>
      <p:pic>
        <p:nvPicPr>
          <p:cNvPr id="190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94263" y="9878821"/>
            <a:ext cx="7848602" cy="24892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" name="Изображение" descr="Изображение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08611" y="9726421"/>
            <a:ext cx="7899401" cy="27940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Архитектура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Архитектура</a:t>
            </a:r>
          </a:p>
        </p:txBody>
      </p:sp>
      <p:sp>
        <p:nvSpPr>
          <p:cNvPr id="194" name="Чем контейнеризация отличается от виртуальных машин?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  <a:r>
              <a:t>Чем контейнеризация отличается от виртуальных машин?</a:t>
            </a:r>
          </a:p>
        </p:txBody>
      </p:sp>
      <p:sp>
        <p:nvSpPr>
          <p:cNvPr id="195" name="Контейнер работает поверх родительской ОС, это не полноценная виртуальная машина. Он работает за счёт изоляции ресурсов посредством механизма cgroups в Linux.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Контейнер работает поверх родительской ОС, это не полноценная виртуальная машина. Он работает за счёт изоляции ресурсов посредством механизма cgroups в Linux.</a:t>
            </a:r>
          </a:p>
        </p:txBody>
      </p:sp>
      <p:pic>
        <p:nvPicPr>
          <p:cNvPr id="196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70450" y="6440973"/>
            <a:ext cx="14643100" cy="7137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Docker-образ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Docker-образ</a:t>
            </a:r>
          </a:p>
        </p:txBody>
      </p:sp>
      <p:sp>
        <p:nvSpPr>
          <p:cNvPr id="199" name="Подзаголовок слайда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0" name="Docker-образ - то, из чего будет создан контейнер. Это собранные вместо минимальная ОС, рантайм, приложение.…"/>
          <p:cNvSpPr txBox="1"/>
          <p:nvPr>
            <p:ph type="body" idx="2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603504" indent="-603504" defTabSz="2413954">
              <a:spcBef>
                <a:spcPts val="4400"/>
              </a:spcBef>
              <a:defRPr sz="4700"/>
            </a:pPr>
            <a:r>
              <a:t>Docker-образ - то, из чего будет создан контейнер. Это собранные вместо минимальная ОС, рантайм, приложение.</a:t>
            </a:r>
          </a:p>
          <a:p>
            <a:pPr marL="603504" indent="-603504" defTabSz="2413954">
              <a:spcBef>
                <a:spcPts val="4400"/>
              </a:spcBef>
              <a:defRPr sz="4700"/>
            </a:pPr>
            <a:r>
              <a:t>Docker-образ описывается с помощью Dockerfile - файл с командами по сборке образа.</a:t>
            </a:r>
          </a:p>
          <a:p>
            <a:pPr marL="603504" indent="-603504" defTabSz="2413954">
              <a:spcBef>
                <a:spcPts val="4400"/>
              </a:spcBef>
              <a:defRPr sz="4700"/>
            </a:pPr>
            <a:r>
              <a:t>Docker-образ состоит из слоёв. Слой - команда, результат выполнения которой можно переиспользовать.</a:t>
            </a:r>
          </a:p>
          <a:p>
            <a:pPr marL="603504" indent="-603504" defTabSz="2413954">
              <a:spcBef>
                <a:spcPts val="4400"/>
              </a:spcBef>
              <a:defRPr sz="4700"/>
            </a:pPr>
            <a:r>
              <a:t>Не всякая команда может создавать слой. Таких четыре: FROM, RUN, COPY, ADD.</a:t>
            </a:r>
          </a:p>
          <a:p>
            <a:pPr marL="603504" indent="-603504" defTabSz="2413954">
              <a:spcBef>
                <a:spcPts val="4400"/>
              </a:spcBef>
              <a:defRPr sz="4700"/>
            </a:pPr>
            <a:r>
              <a:t>Всего команд для сборки образа 18.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3" name="Подзаголовок слайда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4" name="Текст пункта на слайде"/>
          <p:cNvSpPr txBox="1"/>
          <p:nvPr>
            <p:ph type="body" idx="2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05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2345774"/>
            <a:ext cx="24384002" cy="96405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8" name="Подзаголовок слайда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9" name="У образа может быть базовый образ, с которого начинается сборка (задаётся командой FROM).…"/>
          <p:cNvSpPr txBox="1"/>
          <p:nvPr>
            <p:ph type="body" idx="2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У образа может быть базовый образ, с которого начинается сборка (задаётся командой FROM).</a:t>
            </a:r>
          </a:p>
          <a:p>
            <a:pPr/>
            <a:r>
              <a:t>Это удобно тем, что в базовых образах уже есть вся инфраструктура для сборки и запуска приложения (например, SDK и рантайм).</a:t>
            </a:r>
          </a:p>
          <a:p>
            <a:pPr/>
            <a:r>
              <a:t>Базовых образов может быть несколько.</a:t>
            </a:r>
          </a:p>
          <a:p>
            <a:pPr/>
            <a:r>
              <a:t>Примеры базовых образов - dotnet/aspnet:8.0 и dotnet/sdk:8.0.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Docker registr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Docker registry</a:t>
            </a:r>
          </a:p>
        </p:txBody>
      </p:sp>
      <p:sp>
        <p:nvSpPr>
          <p:cNvPr id="212" name="Подзаголовок слайда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3" name="Registry - хранилище Docker-образов. Может быть как облачным, так и self-hosted (обычно на базе Sonatype Nexus).…"/>
          <p:cNvSpPr txBox="1"/>
          <p:nvPr>
            <p:ph type="body" idx="2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Registry - хранилище Docker-образов. Может быть как облачным, так и self-hosted (обычно на базе Sonatype Nexus).</a:t>
            </a:r>
          </a:p>
          <a:p>
            <a:pPr/>
            <a:r>
              <a:t>Самый известный registry - Docker Hub.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Работа с Dock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Работа с Docker</a:t>
            </a:r>
          </a:p>
        </p:txBody>
      </p:sp>
      <p:sp>
        <p:nvSpPr>
          <p:cNvPr id="216" name="Подзаголовок слайда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7" name="Уровень текста 1…"/>
          <p:cNvSpPr txBox="1"/>
          <p:nvPr>
            <p:ph type="body" idx="2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Обычно разработчика интересует несколько вещей:</a:t>
            </a:r>
            <a:br/>
            <a:r>
              <a:t>- сборка образа;</a:t>
            </a:r>
            <a:br/>
            <a:r>
              <a:t>- запуск контейнера;</a:t>
            </a:r>
            <a:br/>
            <a:r>
              <a:t>- запуск нескольких контейнеров;</a:t>
            </a:r>
            <a:br/>
            <a:r>
              <a:t>- что-нибудь поделать внутри контейнера (посмотреть ФС, проверить сеть).</a:t>
            </a:r>
          </a:p>
          <a:p>
            <a:pPr/>
            <a:r>
              <a:t>Способ запуска нескольких контейнеров мы рассматривать здесь не будем - это отдельная большая тема.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Сборка образ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Сборка образа</a:t>
            </a:r>
          </a:p>
        </p:txBody>
      </p:sp>
      <p:sp>
        <p:nvSpPr>
          <p:cNvPr id="220" name="Подзаголовок слайда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1" name="Уровень текста 1…"/>
          <p:cNvSpPr txBox="1"/>
          <p:nvPr>
            <p:ph type="body" idx="2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docker build &lt;flags&gt; &lt;path&gt;</a:t>
            </a:r>
            <a:br/>
            <a:r>
              <a:t>path - путь до директории, где лежит Dockerfile</a:t>
            </a:r>
          </a:p>
          <a:p>
            <a:pPr/>
            <a:r>
              <a:t>Популярные флаги:</a:t>
            </a:r>
            <a:br/>
            <a:r>
              <a:t>-t: указать тег (для нескольких тегов флаг дублируется);</a:t>
            </a:r>
            <a:br/>
            <a:r>
              <a:t>   - тег - метка на образе, которая позволяет обращаться использовать эту метку в качестве имени образа, а не sha256-хэш;</a:t>
            </a:r>
            <a:br/>
            <a:r>
              <a:t>   - обычно тег включает в себя версию образа (после двоеточия), если версии нет, проставляется «latest»</a:t>
            </a:r>
            <a:br/>
            <a:r>
              <a:t>-f: выбор Dockerfile для сборки, если их несколько.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Запуск контейнер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Запуск контейнера</a:t>
            </a:r>
          </a:p>
        </p:txBody>
      </p:sp>
      <p:sp>
        <p:nvSpPr>
          <p:cNvPr id="224" name="Подзаголовок слайда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5" name="Уровень текста 1…"/>
          <p:cNvSpPr txBox="1"/>
          <p:nvPr>
            <p:ph type="body" idx="2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docker run &lt;options&gt; &lt;image&gt; &lt;command&gt; &lt;args&gt;</a:t>
            </a:r>
          </a:p>
          <a:p>
            <a:pPr/>
            <a:r>
              <a:t>- options - опции для docker run;</a:t>
            </a:r>
            <a:br/>
            <a:r>
              <a:t>- image - sha256-хэш или тег образа;</a:t>
            </a:r>
            <a:br/>
            <a:r>
              <a:t>- command - команда для запуска при старте контейнера (об этом дальше);</a:t>
            </a:r>
            <a:br/>
            <a:r>
              <a:t>- args - аргументы для команды из &lt;command&gt;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docker ru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r>
              <a:t>docker run</a:t>
            </a:r>
          </a:p>
        </p:txBody>
      </p:sp>
      <p:sp>
        <p:nvSpPr>
          <p:cNvPr id="228" name="&lt;options&gt;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&lt;options&gt;</a:t>
            </a:r>
          </a:p>
        </p:txBody>
      </p:sp>
      <p:sp>
        <p:nvSpPr>
          <p:cNvPr id="229" name="Уровень текста 1…"/>
          <p:cNvSpPr txBox="1"/>
          <p:nvPr>
            <p:ph type="body" idx="2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Позволяют настроить ресурсы, изоляцию, переопределить какие-то параметры внутри образа (типа entrypoint).</a:t>
            </a:r>
          </a:p>
          <a:p>
            <a:pPr/>
            <a:r>
              <a:t>Помимо них, существует несколько популярных опций:</a:t>
            </a:r>
            <a:br/>
            <a:r>
              <a:t>-v (--volume): монтирование директорий/файлов/других видов volume в контейнер;</a:t>
            </a:r>
            <a:br/>
            <a:r>
              <a:t>-it - запуск команды при старте;</a:t>
            </a:r>
            <a:br/>
            <a:r>
              <a:t>-p - маппинг портов (для нескольких опция повторяется). Нужно для веб-сервисов.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Volum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Volume</a:t>
            </a:r>
          </a:p>
        </p:txBody>
      </p:sp>
      <p:sp>
        <p:nvSpPr>
          <p:cNvPr id="232" name="Подзаголовок слайда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3" name="Уровень текста 1…"/>
          <p:cNvSpPr txBox="1"/>
          <p:nvPr>
            <p:ph type="body" idx="2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Персистентное хранилище, которое можно подключить к контейнеру.</a:t>
            </a:r>
          </a:p>
          <a:p>
            <a:pPr/>
            <a:r>
              <a:t>Может быть файлом, директорией, диском, чем-то удалённым, доступным по сети.</a:t>
            </a:r>
          </a:p>
          <a:p>
            <a:pPr/>
            <a:r>
              <a:t>Можно создавать на постоянной основе, можно временно подключать при старте конкретного контейнера:</a:t>
            </a:r>
            <a:br/>
            <a:r>
              <a:t>-v путь_на_хосте:/абсолютный/путь/в/контейнере</a:t>
            </a:r>
          </a:p>
          <a:p>
            <a:pPr/>
            <a:r>
              <a:t>На хосте можно относительные и абсолютные пути, в контейнере - абсолютные.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docker ru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docker run</a:t>
            </a:r>
          </a:p>
        </p:txBody>
      </p:sp>
      <p:sp>
        <p:nvSpPr>
          <p:cNvPr id="236" name="&lt;command&gt; + &lt;args&gt;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&lt;command&gt; + &lt;args&gt;</a:t>
            </a:r>
          </a:p>
        </p:txBody>
      </p:sp>
      <p:sp>
        <p:nvSpPr>
          <p:cNvPr id="237" name="Уровень текста 1…"/>
          <p:cNvSpPr txBox="1"/>
          <p:nvPr>
            <p:ph type="body" idx="2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Это должна быть команда внутри контейнера. Часто запускают какой-нибудь интерпретатор команд, чтобы можно было посмотреть всё, что интересует.</a:t>
            </a:r>
            <a:br/>
            <a:r>
              <a:t>Пример:</a:t>
            </a:r>
            <a:br/>
            <a:r>
              <a:t>docker run -it dotnet/sdk:10 /bin/bash</a:t>
            </a:r>
          </a:p>
          <a:p>
            <a:pPr/>
            <a:r>
              <a:t>Параметры для команды при необходимости можно передать сразу же после названия команды (через пробел).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docker ru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docker run</a:t>
            </a:r>
          </a:p>
        </p:txBody>
      </p:sp>
      <p:sp>
        <p:nvSpPr>
          <p:cNvPr id="240" name="-p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-p</a:t>
            </a:r>
          </a:p>
        </p:txBody>
      </p:sp>
      <p:sp>
        <p:nvSpPr>
          <p:cNvPr id="241" name="Уровень текста 1…"/>
          <p:cNvSpPr txBox="1"/>
          <p:nvPr>
            <p:ph type="body" idx="2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Позволяет выставить из контейнера наружу порты.</a:t>
            </a:r>
            <a:br/>
            <a:r>
              <a:t>-p src_port:dst_port</a:t>
            </a:r>
            <a:br/>
            <a:r>
              <a:t>src_port - порт в контейнере, dst_port - на хосте</a:t>
            </a:r>
            <a:br/>
          </a:p>
          <a:p>
            <a:pPr/>
            <a:r>
              <a:t>Можно выставлять нескольким повтором опций.</a:t>
            </a:r>
          </a:p>
          <a:p>
            <a:pPr/>
            <a:r>
              <a:t>Если на хосте порт занят - контейнер не запустится.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docker attach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docker attach</a:t>
            </a:r>
          </a:p>
        </p:txBody>
      </p:sp>
      <p:sp>
        <p:nvSpPr>
          <p:cNvPr id="244" name="Подзаголовок слайда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5" name="Уровень текста 1…"/>
          <p:cNvSpPr txBox="1"/>
          <p:nvPr>
            <p:ph type="body" idx="2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docker attach &lt;container_id&gt;</a:t>
            </a:r>
          </a:p>
          <a:p>
            <a:pPr/>
            <a:r>
              <a:t>Позволяет подключиться к уже работающему контейнеру.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